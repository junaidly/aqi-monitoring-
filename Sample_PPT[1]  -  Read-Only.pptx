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78" r:id="rId4"/>
    <p:sldId id="281" r:id="rId5"/>
    <p:sldId id="288" r:id="rId6"/>
    <p:sldId id="280" r:id="rId7"/>
    <p:sldId id="282" r:id="rId8"/>
    <p:sldId id="290" r:id="rId9"/>
    <p:sldId id="289" r:id="rId10"/>
    <p:sldId id="285" r:id="rId11"/>
    <p:sldId id="286" r:id="rId12"/>
    <p:sldId id="270" r:id="rId13"/>
    <p:sldId id="28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94660"/>
  </p:normalViewPr>
  <p:slideViewPr>
    <p:cSldViewPr snapToGrid="0">
      <p:cViewPr varScale="1">
        <p:scale>
          <a:sx n="83" d="100"/>
          <a:sy n="83" d="100"/>
        </p:scale>
        <p:origin x="9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17853-081A-146A-2DF7-BA9000534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E28AE8-FF12-EB53-57AB-5D483A617E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D10E83-D428-AFBF-59DB-81B7C64F8E14}"/>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5" name="Footer Placeholder 4">
            <a:extLst>
              <a:ext uri="{FF2B5EF4-FFF2-40B4-BE49-F238E27FC236}">
                <a16:creationId xmlns:a16="http://schemas.microsoft.com/office/drawing/2014/main" id="{8626DADF-C452-C569-0B27-99C250699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6F878B-93A0-E91D-71E0-96E2C799597B}"/>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2740033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1EA8B-9B48-D996-D445-792F309026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E83DE1-CCF6-0E62-344D-DB9040C8E7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E476B7-4248-57DB-6E36-4F593CA4B6DE}"/>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5" name="Footer Placeholder 4">
            <a:extLst>
              <a:ext uri="{FF2B5EF4-FFF2-40B4-BE49-F238E27FC236}">
                <a16:creationId xmlns:a16="http://schemas.microsoft.com/office/drawing/2014/main" id="{8BAF0566-DD91-B92B-1081-15C66A3CF7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C6513A-31C3-E6C9-5FBC-F50930891427}"/>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4112504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83A74-B247-C2B3-BA67-960889A347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A077F7-2F89-7D9D-EFA1-03757A0AEB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174D1B-A7F1-9872-37DC-4533F220B2B3}"/>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5" name="Footer Placeholder 4">
            <a:extLst>
              <a:ext uri="{FF2B5EF4-FFF2-40B4-BE49-F238E27FC236}">
                <a16:creationId xmlns:a16="http://schemas.microsoft.com/office/drawing/2014/main" id="{748705C1-C72A-E310-944A-D4B77C62D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FD4DC7-880C-9B98-7F78-C6090DEFCA22}"/>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3716776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F84DE-E664-9C19-E5C7-CC497C2180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78CCDD-E38D-6409-72BB-D2A959D180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DA0BBB-EE08-69E9-F4D0-9F90E21968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C7EE61-060A-89DD-D441-B873D9825E46}"/>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6" name="Footer Placeholder 5">
            <a:extLst>
              <a:ext uri="{FF2B5EF4-FFF2-40B4-BE49-F238E27FC236}">
                <a16:creationId xmlns:a16="http://schemas.microsoft.com/office/drawing/2014/main" id="{3AD43F00-FF4B-86D6-7EBE-E4068A9268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4FFDE0-4D35-750B-DE7A-C07E3407DDE5}"/>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128448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3CC85-1EB4-C4B8-141C-2D807BCFA5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FAD81-0EFF-2235-33C7-789285F717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3A1325-9C9D-7D69-3B3E-3AC8B1890B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6658CE-1E69-8BC9-601E-02EDBF1642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252EB2-62DA-20AB-9AFE-ADF35843CA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EAF1BB-9A7E-F4B0-E9AA-35CE0971E04D}"/>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8" name="Footer Placeholder 7">
            <a:extLst>
              <a:ext uri="{FF2B5EF4-FFF2-40B4-BE49-F238E27FC236}">
                <a16:creationId xmlns:a16="http://schemas.microsoft.com/office/drawing/2014/main" id="{C00B5E6E-AB55-78CA-531E-9AE4767EE7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58D899-8B18-CE33-7DF8-0C6E693DB8FB}"/>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3281967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25AC-9CFE-6102-4465-DD750BB34E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5F9F71-2BDD-8A28-9A4F-4D52C94511F0}"/>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4" name="Footer Placeholder 3">
            <a:extLst>
              <a:ext uri="{FF2B5EF4-FFF2-40B4-BE49-F238E27FC236}">
                <a16:creationId xmlns:a16="http://schemas.microsoft.com/office/drawing/2014/main" id="{FA632AB4-C7BA-F094-49B8-55E9107DF4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7B8413-05A8-0337-4EBF-95F707920195}"/>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1881408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01A652-D746-B477-A393-9FF3E4471727}"/>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3" name="Footer Placeholder 2">
            <a:extLst>
              <a:ext uri="{FF2B5EF4-FFF2-40B4-BE49-F238E27FC236}">
                <a16:creationId xmlns:a16="http://schemas.microsoft.com/office/drawing/2014/main" id="{AF1A9286-D42B-635E-7C89-1BB742B265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E07E19-A29F-ECBC-FAC9-AF465F71406B}"/>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3399156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79F4-F154-07F2-DFAE-D44CB42A6D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50CC2C-3D84-B42F-0757-DD9F7D4FEF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728E08-331C-3DAF-BC5F-446494CBE7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CA0277-0360-EA17-67B2-A10E2420C1D3}"/>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6" name="Footer Placeholder 5">
            <a:extLst>
              <a:ext uri="{FF2B5EF4-FFF2-40B4-BE49-F238E27FC236}">
                <a16:creationId xmlns:a16="http://schemas.microsoft.com/office/drawing/2014/main" id="{2471A8B9-398A-2E27-F23F-2167AB8879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7FFC6A-F3B7-C816-C5ED-EE1623667C04}"/>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567618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7B4DC-9A13-216A-B4B8-5F523FAF04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965189-FF92-B812-E9D3-6C40AAE250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F0EAB7-9E1D-882E-57F1-123E0A796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6416CF-A313-FCFE-A2EA-36C47F7FEADD}"/>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6" name="Footer Placeholder 5">
            <a:extLst>
              <a:ext uri="{FF2B5EF4-FFF2-40B4-BE49-F238E27FC236}">
                <a16:creationId xmlns:a16="http://schemas.microsoft.com/office/drawing/2014/main" id="{B72CE05B-17E0-8768-F31F-92AFB632A7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58E9D1-A273-BFE3-B9FC-6A2D7BE31E4E}"/>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694028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3D7A-F3E6-4984-6CC5-68CFC305EA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C6DCEC-93B1-375A-A768-F317E2602F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16C52D-67CA-07FA-9678-C2BC7D490A19}"/>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5" name="Footer Placeholder 4">
            <a:extLst>
              <a:ext uri="{FF2B5EF4-FFF2-40B4-BE49-F238E27FC236}">
                <a16:creationId xmlns:a16="http://schemas.microsoft.com/office/drawing/2014/main" id="{AC6ED644-1D03-7540-DEE0-CDB6CB8BC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80ADC-E94A-7C44-20B3-382440FE4CB8}"/>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4220275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38F33-DFD3-A797-C0E4-AA7F15B61A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028322-A67E-46A6-E637-D38105D1DA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A327B-8EBC-ABDF-1D6D-E174AE5888C1}"/>
              </a:ext>
            </a:extLst>
          </p:cNvPr>
          <p:cNvSpPr>
            <a:spLocks noGrp="1"/>
          </p:cNvSpPr>
          <p:nvPr>
            <p:ph type="dt" sz="half" idx="10"/>
          </p:nvPr>
        </p:nvSpPr>
        <p:spPr/>
        <p:txBody>
          <a:bodyPr/>
          <a:lstStyle/>
          <a:p>
            <a:fld id="{DC46ACC5-17E0-46A8-8D1F-F6E9388D512F}" type="datetimeFigureOut">
              <a:rPr lang="en-US" smtClean="0"/>
              <a:t>11/13/2025</a:t>
            </a:fld>
            <a:endParaRPr lang="en-US"/>
          </a:p>
        </p:txBody>
      </p:sp>
      <p:sp>
        <p:nvSpPr>
          <p:cNvPr id="5" name="Footer Placeholder 4">
            <a:extLst>
              <a:ext uri="{FF2B5EF4-FFF2-40B4-BE49-F238E27FC236}">
                <a16:creationId xmlns:a16="http://schemas.microsoft.com/office/drawing/2014/main" id="{99540BC2-B78E-9C01-33EA-1D25E22CC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3B67D2-7816-F0F4-3C6A-C8322CEC5D81}"/>
              </a:ext>
            </a:extLst>
          </p:cNvPr>
          <p:cNvSpPr>
            <a:spLocks noGrp="1"/>
          </p:cNvSpPr>
          <p:nvPr>
            <p:ph type="sldNum" sz="quarter" idx="12"/>
          </p:nvPr>
        </p:nvSpPr>
        <p:spPr/>
        <p:txBody>
          <a:bodyPr/>
          <a:lstStyle/>
          <a:p>
            <a:fld id="{3D91F134-87E4-4861-AE03-A61C5F01E79C}" type="slidenum">
              <a:rPr lang="en-US" smtClean="0"/>
              <a:t>‹#›</a:t>
            </a:fld>
            <a:endParaRPr lang="en-US"/>
          </a:p>
        </p:txBody>
      </p:sp>
    </p:spTree>
    <p:extLst>
      <p:ext uri="{BB962C8B-B14F-4D97-AF65-F5344CB8AC3E}">
        <p14:creationId xmlns:p14="http://schemas.microsoft.com/office/powerpoint/2010/main" val="3989808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989C60-F682-A832-D15A-5701B5C265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E7A3B4-5FE1-3BAD-BF20-60D6670FE1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DD2ACB-1D04-8370-777A-52454F96FD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46ACC5-17E0-46A8-8D1F-F6E9388D512F}" type="datetimeFigureOut">
              <a:rPr lang="en-US" smtClean="0"/>
              <a:t>11/13/2025</a:t>
            </a:fld>
            <a:endParaRPr lang="en-US"/>
          </a:p>
        </p:txBody>
      </p:sp>
      <p:sp>
        <p:nvSpPr>
          <p:cNvPr id="5" name="Footer Placeholder 4">
            <a:extLst>
              <a:ext uri="{FF2B5EF4-FFF2-40B4-BE49-F238E27FC236}">
                <a16:creationId xmlns:a16="http://schemas.microsoft.com/office/drawing/2014/main" id="{0CCB3544-D22B-6B15-EE64-5B81FBDF08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58F0343-82A8-B356-2A1E-A377D931D2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91F134-87E4-4861-AE03-A61C5F01E79C}" type="slidenum">
              <a:rPr lang="en-US" smtClean="0"/>
              <a:t>‹#›</a:t>
            </a:fld>
            <a:endParaRPr lang="en-US"/>
          </a:p>
        </p:txBody>
      </p:sp>
    </p:spTree>
    <p:extLst>
      <p:ext uri="{BB962C8B-B14F-4D97-AF65-F5344CB8AC3E}">
        <p14:creationId xmlns:p14="http://schemas.microsoft.com/office/powerpoint/2010/main" val="3279959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07E65B-4080-2479-9D4F-36EBB5E6DC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8945" y="-29497"/>
            <a:ext cx="1213055" cy="1213055"/>
          </a:xfrm>
          <a:prstGeom prst="rect">
            <a:avLst/>
          </a:prstGeom>
        </p:spPr>
      </p:pic>
      <p:sp>
        <p:nvSpPr>
          <p:cNvPr id="4" name="Rectangle 3">
            <a:extLst>
              <a:ext uri="{FF2B5EF4-FFF2-40B4-BE49-F238E27FC236}">
                <a16:creationId xmlns:a16="http://schemas.microsoft.com/office/drawing/2014/main" id="{38D8BCBA-089C-BB41-A785-26927A364F65}"/>
              </a:ext>
            </a:extLst>
          </p:cNvPr>
          <p:cNvSpPr/>
          <p:nvPr/>
        </p:nvSpPr>
        <p:spPr>
          <a:xfrm>
            <a:off x="3429000" y="1839006"/>
            <a:ext cx="4788619" cy="1538883"/>
          </a:xfrm>
          <a:prstGeom prst="rect">
            <a:avLst/>
          </a:prstGeom>
          <a:noFill/>
        </p:spPr>
        <p:txBody>
          <a:bodyPr wrap="square" lIns="91440" tIns="45720" rIns="91440" bIns="4572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5400" b="1" cap="none" spc="0" dirty="0">
                <a:ln w="0"/>
                <a:solidFill>
                  <a:schemeClr val="tx1"/>
                </a:solidFill>
                <a:latin typeface="Arial" panose="020B0604020202020204" pitchFamily="34" charset="0"/>
                <a:cs typeface="Arial" panose="020B0604020202020204" pitchFamily="34" charset="0"/>
              </a:rPr>
              <a:t>Mini Project </a:t>
            </a:r>
            <a:endParaRPr lang="en-US" sz="5400" b="1" dirty="0">
              <a:ln w="0"/>
              <a:latin typeface="Arial" panose="020B0604020202020204" pitchFamily="34" charset="0"/>
              <a:cs typeface="Arial" panose="020B0604020202020204" pitchFamily="34" charset="0"/>
            </a:endParaRPr>
          </a:p>
          <a:p>
            <a:pPr algn="ctr"/>
            <a:r>
              <a:rPr lang="en-US" sz="4000" b="1" cap="none" spc="0" dirty="0">
                <a:ln w="0"/>
                <a:solidFill>
                  <a:schemeClr val="tx1"/>
                </a:solidFill>
                <a:latin typeface="Arial" panose="020B0604020202020204" pitchFamily="34" charset="0"/>
                <a:cs typeface="Arial" panose="020B0604020202020204" pitchFamily="34" charset="0"/>
              </a:rPr>
              <a:t>NIMBUS</a:t>
            </a:r>
          </a:p>
        </p:txBody>
      </p:sp>
      <p:sp>
        <p:nvSpPr>
          <p:cNvPr id="5" name="Rectangle 4">
            <a:extLst>
              <a:ext uri="{FF2B5EF4-FFF2-40B4-BE49-F238E27FC236}">
                <a16:creationId xmlns:a16="http://schemas.microsoft.com/office/drawing/2014/main" id="{A1361692-AC65-A9A9-CAD7-F1BF2A1DA2B8}"/>
              </a:ext>
            </a:extLst>
          </p:cNvPr>
          <p:cNvSpPr/>
          <p:nvPr/>
        </p:nvSpPr>
        <p:spPr>
          <a:xfrm>
            <a:off x="96982" y="3575802"/>
            <a:ext cx="5403273" cy="3970318"/>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lIns="91440" tIns="45720" rIns="91440" bIns="4572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Presented by</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HARSHIT KUMAR AZAD (2300320400024)</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LAVESH KUMAR             (2300320400034)</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LAKSHAY BISHT             (2300320400032)</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HARSH CHAUDHARY    (2300320400023)</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HIMANSHU SINGH         (2300320400026)</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JIGYASH CHAUHAN      (2300320400029)</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KARAN GUPTA               (2300320400031)</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LAKSHAY SAXENA         (2300320400033)</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JUNAID FAROOQ           (2300320400030)</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JALALUDDIN                  (2300320400027)</a:t>
            </a:r>
          </a:p>
          <a:p>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JAY PRAKASH                (2300320400028)</a:t>
            </a:r>
          </a:p>
          <a:p>
            <a:endPar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a:p>
            <a:endPar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939DEC9-BDF6-9F2B-E835-F19EC814A11C}"/>
              </a:ext>
            </a:extLst>
          </p:cNvPr>
          <p:cNvSpPr/>
          <p:nvPr/>
        </p:nvSpPr>
        <p:spPr>
          <a:xfrm>
            <a:off x="2213366" y="475114"/>
            <a:ext cx="7765267" cy="584775"/>
          </a:xfrm>
          <a:prstGeom prst="rect">
            <a:avLst/>
          </a:prstGeom>
          <a:noFill/>
        </p:spPr>
        <p:txBody>
          <a:bodyPr wrap="none" lIns="91440" tIns="45720" rIns="91440" bIns="4572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cap="none" spc="0" dirty="0">
                <a:ln w="0"/>
                <a:solidFill>
                  <a:schemeClr val="tx1"/>
                </a:solidFill>
                <a:latin typeface="Arial" panose="020B0604020202020204" pitchFamily="34" charset="0"/>
                <a:cs typeface="Arial" panose="020B0604020202020204" pitchFamily="34" charset="0"/>
              </a:rPr>
              <a:t>Department of Mechanica</a:t>
            </a:r>
            <a:r>
              <a:rPr lang="en-US" sz="3200" b="1" dirty="0">
                <a:ln w="0"/>
                <a:latin typeface="Arial" panose="020B0604020202020204" pitchFamily="34" charset="0"/>
                <a:cs typeface="Arial" panose="020B0604020202020204" pitchFamily="34" charset="0"/>
              </a:rPr>
              <a:t>l Engineering</a:t>
            </a:r>
            <a:endParaRPr lang="en-US" sz="3200" b="1" cap="none" spc="0" dirty="0">
              <a:ln w="0"/>
              <a:solidFill>
                <a:schemeClr val="tx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3E81A31E-CF0A-4861-F9A0-E384EF1D8F41}"/>
              </a:ext>
            </a:extLst>
          </p:cNvPr>
          <p:cNvSpPr/>
          <p:nvPr/>
        </p:nvSpPr>
        <p:spPr>
          <a:xfrm>
            <a:off x="9611218" y="4502467"/>
            <a:ext cx="2283703" cy="1200329"/>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lIns="91440" tIns="45720" rIns="91440" bIns="4572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Guided by</a:t>
            </a:r>
          </a:p>
          <a:p>
            <a:pPr algn="ctr"/>
            <a:endPar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a:p>
            <a:pPr algn="ctr"/>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Mr. MOHIT BANSAL</a:t>
            </a:r>
          </a:p>
          <a:p>
            <a:pPr algn="ctr"/>
            <a:r>
              <a:rPr lang="en-US"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SIR</a:t>
            </a:r>
          </a:p>
        </p:txBody>
      </p:sp>
      <p:sp>
        <p:nvSpPr>
          <p:cNvPr id="9" name="TextBox 8">
            <a:extLst>
              <a:ext uri="{FF2B5EF4-FFF2-40B4-BE49-F238E27FC236}">
                <a16:creationId xmlns:a16="http://schemas.microsoft.com/office/drawing/2014/main" id="{07A4CE1E-D67D-17DB-9480-CF5B3E363D29}"/>
              </a:ext>
            </a:extLst>
          </p:cNvPr>
          <p:cNvSpPr txBox="1"/>
          <p:nvPr/>
        </p:nvSpPr>
        <p:spPr>
          <a:xfrm>
            <a:off x="5301373" y="3090672"/>
            <a:ext cx="4098659" cy="369332"/>
          </a:xfrm>
          <a:prstGeom prst="rect">
            <a:avLst/>
          </a:prstGeom>
          <a:noFill/>
        </p:spPr>
        <p:txBody>
          <a:bodyPr wrap="square">
            <a:spAutoFit/>
          </a:bodyPr>
          <a:lstStyle/>
          <a:p>
            <a:pPr algn="ctr"/>
            <a:r>
              <a:rPr lang="en-US" sz="1800" b="1" cap="none" spc="0" dirty="0">
                <a:ln w="0"/>
                <a:solidFill>
                  <a:schemeClr val="tx1"/>
                </a:solidFill>
                <a:latin typeface="Arial" panose="020B0604020202020204" pitchFamily="34" charset="0"/>
                <a:cs typeface="Arial" panose="020B0604020202020204" pitchFamily="34" charset="0"/>
              </a:rPr>
              <a:t>          </a:t>
            </a:r>
            <a:r>
              <a:rPr lang="en-US" sz="1800" cap="none" spc="0" dirty="0">
                <a:ln w="0"/>
                <a:solidFill>
                  <a:schemeClr val="tx1"/>
                </a:solidFill>
                <a:latin typeface="Arial" panose="020B0604020202020204" pitchFamily="34" charset="0"/>
                <a:cs typeface="Arial" panose="020B0604020202020204" pitchFamily="34" charset="0"/>
              </a:rPr>
              <a:t>Group No. </a:t>
            </a:r>
            <a:r>
              <a:rPr lang="en-US" dirty="0">
                <a:ln w="0"/>
                <a:latin typeface="Arial" panose="020B0604020202020204" pitchFamily="34" charset="0"/>
                <a:cs typeface="Arial" panose="020B0604020202020204" pitchFamily="34" charset="0"/>
              </a:rPr>
              <a:t>3 </a:t>
            </a:r>
            <a:endParaRPr lang="en-US" sz="1800" cap="none" spc="0" dirty="0">
              <a:ln w="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7205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i="1" dirty="0"/>
              <a:t>OBJECTIVE:-</a:t>
            </a:r>
            <a:endParaRPr lang="en-IN" sz="5400" b="1" i="1" dirty="0"/>
          </a:p>
        </p:txBody>
      </p:sp>
      <p:sp>
        <p:nvSpPr>
          <p:cNvPr id="3" name="Content Placeholder 2"/>
          <p:cNvSpPr>
            <a:spLocks noGrp="1"/>
          </p:cNvSpPr>
          <p:nvPr>
            <p:ph idx="1"/>
          </p:nvPr>
        </p:nvSpPr>
        <p:spPr>
          <a:xfrm>
            <a:off x="838200" y="1825625"/>
            <a:ext cx="5133109" cy="4351338"/>
          </a:xfrm>
        </p:spPr>
        <p:txBody>
          <a:bodyPr>
            <a:normAutofit/>
          </a:bodyPr>
          <a:lstStyle/>
          <a:p>
            <a:r>
              <a:rPr lang="en-US" dirty="0"/>
              <a:t>To educate the audience on the importance of monitoring air quality through the Air Quality Index (AQI), explain the components and functioning of an AQI monitoring system, and highlight its role in promoting public health, environmental awareness, and data-driven policy decisions.</a:t>
            </a:r>
          </a:p>
          <a:p>
            <a:pPr marL="0" indent="0">
              <a:buNone/>
            </a:pPr>
            <a:endParaRPr lang="en-US" dirty="0"/>
          </a:p>
          <a:p>
            <a:endParaRPr lang="en-IN"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218" y="1025236"/>
            <a:ext cx="5367540" cy="5151727"/>
          </a:xfrm>
          <a:prstGeom prst="rect">
            <a:avLst/>
          </a:prstGeom>
        </p:spPr>
      </p:pic>
    </p:spTree>
    <p:extLst>
      <p:ext uri="{BB962C8B-B14F-4D97-AF65-F5344CB8AC3E}">
        <p14:creationId xmlns:p14="http://schemas.microsoft.com/office/powerpoint/2010/main" val="1329691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i="1" dirty="0"/>
              <a:t>LITERATURE:-</a:t>
            </a:r>
            <a:endParaRPr lang="en-IN" sz="5400" b="1" i="1" dirty="0"/>
          </a:p>
        </p:txBody>
      </p:sp>
      <p:sp>
        <p:nvSpPr>
          <p:cNvPr id="3" name="Content Placeholder 2"/>
          <p:cNvSpPr>
            <a:spLocks noGrp="1"/>
          </p:cNvSpPr>
          <p:nvPr>
            <p:ph idx="1"/>
          </p:nvPr>
        </p:nvSpPr>
        <p:spPr>
          <a:xfrm>
            <a:off x="838200" y="1825625"/>
            <a:ext cx="5202382" cy="4351338"/>
          </a:xfrm>
        </p:spPr>
        <p:txBody>
          <a:bodyPr>
            <a:normAutofit/>
          </a:bodyPr>
          <a:lstStyle/>
          <a:p>
            <a:r>
              <a:rPr lang="en-US" dirty="0"/>
              <a:t>Literature on Raspberry Pi-based air quality monitoring systems is extensive, focusing on.</a:t>
            </a:r>
          </a:p>
          <a:p>
            <a:pPr marL="0" indent="0">
              <a:buNone/>
            </a:pPr>
            <a:r>
              <a:rPr lang="en-US" dirty="0"/>
              <a:t> </a:t>
            </a:r>
          </a:p>
          <a:p>
            <a:r>
              <a:rPr lang="en-US" dirty="0"/>
              <a:t>Low-cost, real-time.</a:t>
            </a:r>
          </a:p>
          <a:p>
            <a:pPr marL="0" indent="0">
              <a:buNone/>
            </a:pPr>
            <a:r>
              <a:rPr lang="en-US" dirty="0"/>
              <a:t> </a:t>
            </a:r>
          </a:p>
          <a:p>
            <a:r>
              <a:rPr lang="en-US" b="1" dirty="0"/>
              <a:t> </a:t>
            </a:r>
            <a:r>
              <a:rPr lang="en-US" dirty="0"/>
              <a:t>IOT-enabled solutions for monitoring various pollutants and calculating the  (AQI). </a:t>
            </a:r>
          </a:p>
          <a:p>
            <a:pPr marL="0" indent="0">
              <a:buNone/>
            </a:pPr>
            <a:endParaRPr lang="en-IN" dirty="0"/>
          </a:p>
        </p:txBody>
      </p:sp>
      <p:pic>
        <p:nvPicPr>
          <p:cNvPr id="4" name="Picture 3"/>
          <p:cNvPicPr>
            <a:picLocks noChangeAspect="1"/>
          </p:cNvPicPr>
          <p:nvPr/>
        </p:nvPicPr>
        <p:blipFill>
          <a:blip r:embed="rId2"/>
          <a:stretch>
            <a:fillRect/>
          </a:stretch>
        </p:blipFill>
        <p:spPr>
          <a:xfrm>
            <a:off x="6691746" y="1027906"/>
            <a:ext cx="5150426" cy="5353050"/>
          </a:xfrm>
          <a:prstGeom prst="rect">
            <a:avLst/>
          </a:prstGeom>
        </p:spPr>
      </p:pic>
    </p:spTree>
    <p:extLst>
      <p:ext uri="{BB962C8B-B14F-4D97-AF65-F5344CB8AC3E}">
        <p14:creationId xmlns:p14="http://schemas.microsoft.com/office/powerpoint/2010/main" val="1555136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a:t>WORKING PRINCIPLE:-</a:t>
            </a:r>
            <a:endParaRPr lang="en-IN" b="1" i="1" dirty="0"/>
          </a:p>
        </p:txBody>
      </p:sp>
      <p:sp>
        <p:nvSpPr>
          <p:cNvPr id="3" name="Content Placeholder 2"/>
          <p:cNvSpPr>
            <a:spLocks noGrp="1"/>
          </p:cNvSpPr>
          <p:nvPr>
            <p:ph idx="1"/>
          </p:nvPr>
        </p:nvSpPr>
        <p:spPr>
          <a:xfrm>
            <a:off x="838200" y="1825625"/>
            <a:ext cx="4931004" cy="4351338"/>
          </a:xfrm>
        </p:spPr>
        <p:txBody>
          <a:bodyPr>
            <a:normAutofit/>
          </a:bodyPr>
          <a:lstStyle/>
          <a:p>
            <a:r>
              <a:rPr lang="en-US" dirty="0"/>
              <a:t>An AQI monitoring device based on a Raspberry Pi works by Collecting air quality data from various sensors, processing this data to calculate the Air Quality Index (AQI).</a:t>
            </a:r>
          </a:p>
          <a:p>
            <a:endParaRPr lang="en-US" dirty="0"/>
          </a:p>
          <a:p>
            <a:r>
              <a:rPr lang="en-US" dirty="0"/>
              <a:t>The information then transmitting or displaying.</a:t>
            </a:r>
          </a:p>
          <a:p>
            <a:pPr marL="0" indent="0">
              <a:buNone/>
            </a:pPr>
            <a:endParaRPr lang="en-IN" dirty="0"/>
          </a:p>
        </p:txBody>
      </p:sp>
      <p:pic>
        <p:nvPicPr>
          <p:cNvPr id="3074" name="Picture 2" descr="Raspberry Pi | Exploring the Versatility and Potential">
            <a:extLst>
              <a:ext uri="{FF2B5EF4-FFF2-40B4-BE49-F238E27FC236}">
                <a16:creationId xmlns:a16="http://schemas.microsoft.com/office/drawing/2014/main" id="{502919EA-EB5A-F7E0-9633-E09C24EB0B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9204" y="1981004"/>
            <a:ext cx="6096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690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CCEC93-4212-E207-E126-568756837517}"/>
              </a:ext>
            </a:extLst>
          </p:cNvPr>
          <p:cNvSpPr>
            <a:spLocks noGrp="1"/>
          </p:cNvSpPr>
          <p:nvPr>
            <p:ph idx="1"/>
          </p:nvPr>
        </p:nvSpPr>
        <p:spPr>
          <a:xfrm>
            <a:off x="838200" y="1825625"/>
            <a:ext cx="4223994" cy="4351338"/>
          </a:xfrm>
        </p:spPr>
        <p:txBody>
          <a:bodyPr/>
          <a:lstStyle/>
          <a:p>
            <a:r>
              <a:rPr lang="en-US" dirty="0"/>
              <a:t>The Raspberry Pi acts as the central processing unit and an IoT gateway for the system.</a:t>
            </a:r>
          </a:p>
          <a:p>
            <a:endParaRPr lang="en-US" dirty="0"/>
          </a:p>
          <a:p>
            <a:r>
              <a:rPr lang="en-IN" dirty="0"/>
              <a:t>Utilize advanced technology to detect and measure pollutants in the atmosphere.</a:t>
            </a:r>
          </a:p>
        </p:txBody>
      </p:sp>
      <p:pic>
        <p:nvPicPr>
          <p:cNvPr id="4100" name="Picture 4" descr="A comprehensive review on applications of Raspberry Pi - ScienceDirect">
            <a:extLst>
              <a:ext uri="{FF2B5EF4-FFF2-40B4-BE49-F238E27FC236}">
                <a16:creationId xmlns:a16="http://schemas.microsoft.com/office/drawing/2014/main" id="{61769967-57AB-425C-C8E2-D45638EA59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575" y="1894788"/>
            <a:ext cx="5029200" cy="473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48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7820"/>
          </a:xfrm>
        </p:spPr>
        <p:txBody>
          <a:bodyPr>
            <a:noAutofit/>
          </a:bodyPr>
          <a:lstStyle/>
          <a:p>
            <a:r>
              <a:rPr lang="en-US" b="1" i="1" dirty="0"/>
              <a:t>EQUIPMENT:-</a:t>
            </a:r>
            <a:endParaRPr lang="en-IN" b="1" i="1" dirty="0"/>
          </a:p>
        </p:txBody>
      </p:sp>
      <p:sp>
        <p:nvSpPr>
          <p:cNvPr id="4" name="Rectangle 1"/>
          <p:cNvSpPr>
            <a:spLocks noGrp="1" noChangeArrowheads="1"/>
          </p:cNvSpPr>
          <p:nvPr>
            <p:ph idx="1"/>
          </p:nvPr>
        </p:nvSpPr>
        <p:spPr bwMode="auto">
          <a:xfrm>
            <a:off x="867372" y="1052946"/>
            <a:ext cx="4707042" cy="9110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Raspberry Pi Board</a:t>
            </a:r>
            <a:r>
              <a:rPr kumimoji="0" lang="en-US" altLang="en-US" sz="3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A Raspberry Pi (Model 3, 4, 5, or Zero W are common choices) acts as the central processing unit.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Power Supply</a:t>
            </a:r>
            <a:r>
              <a:rPr kumimoji="0" lang="en-US" altLang="en-US" sz="3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An appropriate 5V power supply (with adequate amperage) for your specific Raspberry Pi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MicroSD</a:t>
            </a:r>
            <a:r>
              <a:rPr kumimoji="0" lang="en-US" altLang="en-US" sz="1800" b="1" i="0" u="none" strike="noStrike" cap="none" normalizeH="0" baseline="0" dirty="0">
                <a:ln>
                  <a:noFill/>
                </a:ln>
                <a:solidFill>
                  <a:schemeClr val="tx1"/>
                </a:solidFill>
                <a:effectLst/>
                <a:latin typeface="Arial" panose="020B0604020202020204" pitchFamily="34" charset="0"/>
              </a:rPr>
              <a:t> Card</a:t>
            </a:r>
            <a:r>
              <a:rPr kumimoji="0" lang="en-US" altLang="en-US" sz="1800" b="0" i="0" u="none" strike="noStrike" cap="none" normalizeH="0" baseline="0" dirty="0">
                <a:ln>
                  <a:noFill/>
                </a:ln>
                <a:solidFill>
                  <a:schemeClr val="tx1"/>
                </a:solidFill>
                <a:effectLst/>
                <a:latin typeface="Arial" panose="020B0604020202020204" pitchFamily="34" charset="0"/>
              </a:rPr>
              <a:t>: Used for installing the Raspberry Pi OS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Jumper Wires and Breadboard</a:t>
            </a:r>
            <a:r>
              <a:rPr kumimoji="0" lang="en-US" altLang="en-US" sz="1800" b="0" i="0" u="none" strike="noStrike" cap="none" normalizeH="0" baseline="0" dirty="0">
                <a:ln>
                  <a:noFill/>
                </a:ln>
                <a:solidFill>
                  <a:schemeClr val="tx1"/>
                </a:solidFill>
                <a:effectLst/>
                <a:latin typeface="Arial" panose="020B0604020202020204" pitchFamily="34" charset="0"/>
              </a:rPr>
              <a:t>: Essential for connecting the various sensors to the Raspberry Pi's GPIO pins.</a:t>
            </a: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Protective Case/Enclosure</a:t>
            </a:r>
            <a:r>
              <a:rPr kumimoji="0" lang="en-US" altLang="en-US" sz="1800" b="0" i="0" u="none" strike="noStrike" cap="none" normalizeH="0" baseline="0" dirty="0">
                <a:ln>
                  <a:noFill/>
                </a:ln>
                <a:solidFill>
                  <a:schemeClr val="tx1"/>
                </a:solidFill>
                <a:effectLst/>
                <a:latin typeface="Arial" panose="020B0604020202020204" pitchFamily="34" charset="0"/>
              </a:rPr>
              <a:t>: To house and protect the components, ideally with good ventilation for the sensors.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6360" y="1052946"/>
            <a:ext cx="5779386" cy="4178496"/>
          </a:xfrm>
          <a:prstGeom prst="rect">
            <a:avLst/>
          </a:prstGeom>
        </p:spPr>
      </p:pic>
    </p:spTree>
    <p:extLst>
      <p:ext uri="{BB962C8B-B14F-4D97-AF65-F5344CB8AC3E}">
        <p14:creationId xmlns:p14="http://schemas.microsoft.com/office/powerpoint/2010/main" val="1514901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DIAGRAM</a:t>
            </a:r>
            <a:endParaRPr lang="en-IN"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 y="1354570"/>
            <a:ext cx="5195454" cy="5406448"/>
          </a:xfrm>
        </p:spPr>
      </p:pic>
      <p:pic>
        <p:nvPicPr>
          <p:cNvPr id="7" name="Picture 6"/>
          <p:cNvPicPr>
            <a:picLocks noChangeAspect="1"/>
          </p:cNvPicPr>
          <p:nvPr/>
        </p:nvPicPr>
        <p:blipFill>
          <a:blip r:embed="rId3"/>
          <a:stretch>
            <a:fillRect/>
          </a:stretch>
        </p:blipFill>
        <p:spPr>
          <a:xfrm>
            <a:off x="5583383" y="1579418"/>
            <a:ext cx="6497782" cy="4856451"/>
          </a:xfrm>
          <a:prstGeom prst="rect">
            <a:avLst/>
          </a:prstGeom>
        </p:spPr>
      </p:pic>
    </p:spTree>
    <p:extLst>
      <p:ext uri="{BB962C8B-B14F-4D97-AF65-F5344CB8AC3E}">
        <p14:creationId xmlns:p14="http://schemas.microsoft.com/office/powerpoint/2010/main" val="1123048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3E922-B24D-51BF-C980-26B07BA8FA9D}"/>
              </a:ext>
            </a:extLst>
          </p:cNvPr>
          <p:cNvSpPr>
            <a:spLocks noGrp="1"/>
          </p:cNvSpPr>
          <p:nvPr>
            <p:ph type="title"/>
          </p:nvPr>
        </p:nvSpPr>
        <p:spPr>
          <a:xfrm>
            <a:off x="678180" y="570865"/>
            <a:ext cx="10515600" cy="1325563"/>
          </a:xfrm>
        </p:spPr>
        <p:txBody>
          <a:bodyPr/>
          <a:lstStyle/>
          <a:p>
            <a:r>
              <a:rPr lang="en-IN" b="1" i="1" dirty="0"/>
              <a:t>   APPLICATION:-</a:t>
            </a:r>
          </a:p>
        </p:txBody>
      </p:sp>
      <p:sp>
        <p:nvSpPr>
          <p:cNvPr id="3" name="Content Placeholder 2">
            <a:extLst>
              <a:ext uri="{FF2B5EF4-FFF2-40B4-BE49-F238E27FC236}">
                <a16:creationId xmlns:a16="http://schemas.microsoft.com/office/drawing/2014/main" id="{229771D2-F0F7-4CA8-D7E1-C54D902F38C9}"/>
              </a:ext>
            </a:extLst>
          </p:cNvPr>
          <p:cNvSpPr>
            <a:spLocks noGrp="1"/>
          </p:cNvSpPr>
          <p:nvPr>
            <p:ph idx="1"/>
          </p:nvPr>
        </p:nvSpPr>
        <p:spPr>
          <a:xfrm>
            <a:off x="838200" y="1690688"/>
            <a:ext cx="5581454" cy="4351338"/>
          </a:xfrm>
        </p:spPr>
        <p:txBody>
          <a:bodyPr>
            <a:normAutofit fontScale="77500" lnSpcReduction="20000"/>
          </a:bodyPr>
          <a:lstStyle/>
          <a:p>
            <a:pPr marL="0" indent="0">
              <a:buNone/>
            </a:pPr>
            <a:endParaRPr lang="en-US" dirty="0"/>
          </a:p>
          <a:p>
            <a:r>
              <a:rPr lang="en-US" b="1" dirty="0"/>
              <a:t>Mobile monitoring:</a:t>
            </a:r>
            <a:r>
              <a:rPr lang="en-US" dirty="0"/>
              <a:t> Mounted on unmanned aerial vehicles (UAVs) or vehicles</a:t>
            </a:r>
          </a:p>
          <a:p>
            <a:endParaRPr lang="en-US" b="1" dirty="0"/>
          </a:p>
          <a:p>
            <a:r>
              <a:rPr lang="en-US" b="1" dirty="0"/>
              <a:t>Home automation:</a:t>
            </a:r>
            <a:r>
              <a:rPr lang="en-US" dirty="0"/>
              <a:t> Integrated into a smart home system, it can monitor indoor air quality and trigger actions like activating an air purifier.</a:t>
            </a:r>
          </a:p>
          <a:p>
            <a:endParaRPr lang="en-US" dirty="0"/>
          </a:p>
          <a:p>
            <a:endParaRPr lang="en-US" dirty="0"/>
          </a:p>
          <a:p>
            <a:r>
              <a:rPr lang="en-US" b="1" dirty="0"/>
              <a:t>Scientific research:</a:t>
            </a:r>
            <a:r>
              <a:rPr lang="en-US" dirty="0"/>
              <a:t> Academic institutions and researchers can use these devices for field studies</a:t>
            </a:r>
          </a:p>
          <a:p>
            <a:endParaRPr lang="en-IN" dirty="0"/>
          </a:p>
        </p:txBody>
      </p:sp>
      <p:pic>
        <p:nvPicPr>
          <p:cNvPr id="2050" name="Picture 2" descr="IOT Based Home Automation Using Raspberry Pi">
            <a:extLst>
              <a:ext uri="{FF2B5EF4-FFF2-40B4-BE49-F238E27FC236}">
                <a16:creationId xmlns:a16="http://schemas.microsoft.com/office/drawing/2014/main" id="{2A47F5EC-B22B-B365-2ACE-9BC9E9288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3922" y="886120"/>
            <a:ext cx="5678078" cy="5971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973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EFA17-D2BB-E10E-5B29-2BA29B996EC3}"/>
              </a:ext>
            </a:extLst>
          </p:cNvPr>
          <p:cNvSpPr>
            <a:spLocks noGrp="1"/>
          </p:cNvSpPr>
          <p:nvPr>
            <p:ph type="title"/>
          </p:nvPr>
        </p:nvSpPr>
        <p:spPr>
          <a:xfrm>
            <a:off x="2194560" y="365125"/>
            <a:ext cx="9159240" cy="45719"/>
          </a:xfrm>
        </p:spPr>
        <p:txBody>
          <a:bodyPr>
            <a:normAutofit fontScale="90000"/>
          </a:bodyPr>
          <a:lstStyle/>
          <a:p>
            <a:br>
              <a:rPr lang="en-IN" dirty="0"/>
            </a:br>
            <a:endParaRPr lang="en-IN" dirty="0"/>
          </a:p>
        </p:txBody>
      </p:sp>
      <p:sp>
        <p:nvSpPr>
          <p:cNvPr id="3" name="Content Placeholder 2">
            <a:extLst>
              <a:ext uri="{FF2B5EF4-FFF2-40B4-BE49-F238E27FC236}">
                <a16:creationId xmlns:a16="http://schemas.microsoft.com/office/drawing/2014/main" id="{9B8C667E-4E39-0FFD-206D-529088294AF7}"/>
              </a:ext>
            </a:extLst>
          </p:cNvPr>
          <p:cNvSpPr>
            <a:spLocks noGrp="1"/>
          </p:cNvSpPr>
          <p:nvPr>
            <p:ph idx="1"/>
          </p:nvPr>
        </p:nvSpPr>
        <p:spPr>
          <a:xfrm>
            <a:off x="209748" y="1053806"/>
            <a:ext cx="5609733" cy="4351338"/>
          </a:xfrm>
        </p:spPr>
        <p:txBody>
          <a:bodyPr>
            <a:normAutofit fontScale="92500" lnSpcReduction="10000"/>
          </a:bodyPr>
          <a:lstStyle/>
          <a:p>
            <a:r>
              <a:rPr lang="en-US" b="1" dirty="0"/>
              <a:t>Urban monitoring:</a:t>
            </a:r>
            <a:r>
              <a:rPr lang="en-US" dirty="0"/>
              <a:t> Deployed in cities, these devices can create detailed, real-time maps of air pollution hotspots to aid in city planning and public health initiatives.</a:t>
            </a:r>
          </a:p>
          <a:p>
            <a:endParaRPr lang="en-US" dirty="0"/>
          </a:p>
          <a:p>
            <a:r>
              <a:rPr lang="en-US" b="1" dirty="0"/>
              <a:t>Industrial and mining zones:</a:t>
            </a:r>
            <a:r>
              <a:rPr lang="en-US" dirty="0"/>
              <a:t> Companies can use these systems to continuously monitor air quality in high-risk areas and ensure compliance with environmental regulations</a:t>
            </a:r>
            <a:endParaRPr lang="en-IN" dirty="0"/>
          </a:p>
        </p:txBody>
      </p:sp>
      <p:pic>
        <p:nvPicPr>
          <p:cNvPr id="1026" name="Picture 2" descr="Raspberry Pi for industrial applications - Raspberry Pi">
            <a:extLst>
              <a:ext uri="{FF2B5EF4-FFF2-40B4-BE49-F238E27FC236}">
                <a16:creationId xmlns:a16="http://schemas.microsoft.com/office/drawing/2014/main" id="{25E5DA6A-D4E1-F3F4-7FE1-194F68916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8660" y="968138"/>
            <a:ext cx="5819480" cy="4522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669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a:t>PURPOSE SOLUTION:-</a:t>
            </a:r>
            <a:endParaRPr lang="en-IN" b="1" i="1" dirty="0"/>
          </a:p>
        </p:txBody>
      </p:sp>
      <p:sp>
        <p:nvSpPr>
          <p:cNvPr id="4" name="Rectangle 1"/>
          <p:cNvSpPr>
            <a:spLocks noGrp="1" noChangeArrowheads="1"/>
          </p:cNvSpPr>
          <p:nvPr>
            <p:ph idx="1"/>
          </p:nvPr>
        </p:nvSpPr>
        <p:spPr bwMode="auto">
          <a:xfrm>
            <a:off x="103911" y="1420573"/>
            <a:ext cx="613063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Monitoring:</a:t>
            </a:r>
            <a:r>
              <a:rPr kumimoji="0" lang="en-US" altLang="en-US" sz="1800" b="0" i="0" u="none" strike="noStrike" cap="none" normalizeH="0" baseline="0" dirty="0">
                <a:ln>
                  <a:noFill/>
                </a:ln>
                <a:solidFill>
                  <a:schemeClr val="tx1"/>
                </a:solidFill>
                <a:effectLst/>
                <a:latin typeface="Arial" panose="020B0604020202020204" pitchFamily="34" charset="0"/>
              </a:rPr>
              <a:t> The primary purpose is to collect data on pollutants  PM2.5.</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Health Protection:</a:t>
            </a:r>
            <a:r>
              <a:rPr kumimoji="0" lang="en-US" altLang="en-US" sz="1800" b="0" i="0" u="none" strike="noStrike" cap="none" normalizeH="0" baseline="0" dirty="0">
                <a:ln>
                  <a:noFill/>
                </a:ln>
                <a:solidFill>
                  <a:schemeClr val="tx1"/>
                </a:solidFill>
                <a:effectLst/>
                <a:latin typeface="Arial" panose="020B0604020202020204" pitchFamily="34" charset="0"/>
              </a:rPr>
              <a:t> By providing real-time data and alerts when pollution levels exceed safe thresholds.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Cost-Effective Solution:</a:t>
            </a:r>
            <a:r>
              <a:rPr kumimoji="0" lang="en-US" altLang="en-US" sz="1800" b="0" i="0" u="none" strike="noStrike" cap="none" normalizeH="0" baseline="0" dirty="0">
                <a:ln>
                  <a:noFill/>
                </a:ln>
                <a:solidFill>
                  <a:schemeClr val="tx1"/>
                </a:solidFill>
                <a:effectLst/>
                <a:latin typeface="Arial" panose="020B0604020202020204" pitchFamily="34" charset="0"/>
              </a:rPr>
              <a:t> DIY systems using a Raspberry Pi.</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Analysis and Research:</a:t>
            </a:r>
            <a:r>
              <a:rPr kumimoji="0" lang="en-US" altLang="en-US" sz="1800" b="0" i="0" u="none" strike="noStrike" cap="none" normalizeH="0" baseline="0" dirty="0">
                <a:ln>
                  <a:noFill/>
                </a:ln>
                <a:solidFill>
                  <a:schemeClr val="tx1"/>
                </a:solidFill>
                <a:effectLst/>
                <a:latin typeface="Arial" panose="020B0604020202020204" pitchFamily="34" charset="0"/>
              </a:rPr>
              <a:t> The collected data (often uploaded to cloud platforms via the IOT.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Automation and Control:</a:t>
            </a:r>
            <a:r>
              <a:rPr kumimoji="0" lang="en-US" altLang="en-US" sz="1800" b="0" i="0" u="none" strike="noStrike" cap="none" normalizeH="0" baseline="0" dirty="0">
                <a:ln>
                  <a:noFill/>
                </a:ln>
                <a:solidFill>
                  <a:schemeClr val="tx1"/>
                </a:solidFill>
                <a:effectLst/>
                <a:latin typeface="Arial" panose="020B0604020202020204" pitchFamily="34" charset="0"/>
              </a:rPr>
              <a:t> The system can be integrated with home automation.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Educational Value:</a:t>
            </a:r>
            <a:r>
              <a:rPr kumimoji="0" lang="en-US" altLang="en-US" sz="1800" b="0" i="0" u="none" strike="noStrike" cap="none" normalizeH="0" baseline="0" dirty="0">
                <a:ln>
                  <a:noFill/>
                </a:ln>
                <a:solidFill>
                  <a:schemeClr val="tx1"/>
                </a:solidFill>
                <a:effectLst/>
                <a:latin typeface="Arial" panose="020B0604020202020204" pitchFamily="34" charset="0"/>
              </a:rPr>
              <a:t> These projects offer significant educational value, providing hands-on experience in electronics, programming.</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8836" y="803564"/>
            <a:ext cx="4835237" cy="5695322"/>
          </a:xfrm>
          <a:prstGeom prst="rect">
            <a:avLst/>
          </a:prstGeom>
        </p:spPr>
      </p:pic>
    </p:spTree>
    <p:extLst>
      <p:ext uri="{BB962C8B-B14F-4D97-AF65-F5344CB8AC3E}">
        <p14:creationId xmlns:p14="http://schemas.microsoft.com/office/powerpoint/2010/main" val="1479583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532765"/>
            <a:ext cx="10515600" cy="1325563"/>
          </a:xfrm>
        </p:spPr>
        <p:txBody>
          <a:bodyPr>
            <a:normAutofit fontScale="90000"/>
          </a:bodyPr>
          <a:lstStyle/>
          <a:p>
            <a:r>
              <a:rPr lang="en-US" b="1" i="1" dirty="0"/>
              <a:t>REFRENCE:-</a:t>
            </a:r>
            <a:br>
              <a:rPr lang="en-US" b="1" i="1" dirty="0"/>
            </a:br>
            <a:br>
              <a:rPr lang="en-US" b="1" i="1" dirty="0"/>
            </a:br>
            <a:endParaRPr lang="en-IN" b="1" i="1" dirty="0"/>
          </a:p>
        </p:txBody>
      </p:sp>
      <p:sp>
        <p:nvSpPr>
          <p:cNvPr id="3" name="Content Placeholder 2"/>
          <p:cNvSpPr>
            <a:spLocks noGrp="1"/>
          </p:cNvSpPr>
          <p:nvPr>
            <p:ph idx="1"/>
          </p:nvPr>
        </p:nvSpPr>
        <p:spPr>
          <a:xfrm>
            <a:off x="0" y="1253331"/>
            <a:ext cx="10515600" cy="4351338"/>
          </a:xfrm>
        </p:spPr>
        <p:txBody>
          <a:bodyPr>
            <a:normAutofit fontScale="92500" lnSpcReduction="20000"/>
          </a:bodyPr>
          <a:lstStyle/>
          <a:p>
            <a:pPr marL="0" indent="0">
              <a:buNone/>
            </a:pPr>
            <a:r>
              <a:rPr lang="en-IN" dirty="0"/>
              <a:t> </a:t>
            </a:r>
          </a:p>
          <a:p>
            <a:r>
              <a:rPr lang="en-IN" b="1" dirty="0"/>
              <a:t>YouTube</a:t>
            </a:r>
            <a:r>
              <a:rPr lang="en-IN" dirty="0"/>
              <a:t>: Channels like "Programming Electronics</a:t>
            </a:r>
          </a:p>
          <a:p>
            <a:endParaRPr lang="en-IN" dirty="0"/>
          </a:p>
          <a:p>
            <a:r>
              <a:rPr lang="en-IN" b="1" dirty="0"/>
              <a:t>Tech Blogs and Maker Websites</a:t>
            </a:r>
            <a:r>
              <a:rPr lang="en-IN" dirty="0"/>
              <a:t>: Websites like </a:t>
            </a:r>
            <a:r>
              <a:rPr lang="en-IN" b="1" dirty="0"/>
              <a:t>Medium.com</a:t>
            </a:r>
            <a:r>
              <a:rPr lang="en-IN" dirty="0"/>
              <a:t> and </a:t>
            </a:r>
            <a:r>
              <a:rPr lang="en-IN" b="1" dirty="0"/>
              <a:t>Nevonprojects.com</a:t>
            </a:r>
            <a:r>
              <a:rPr lang="en-IN" dirty="0"/>
              <a:t> host articles and project guides on building Raspberry Pi sensor networks for home automation and air quality monitoring</a:t>
            </a:r>
          </a:p>
          <a:p>
            <a:endParaRPr lang="en-IN" dirty="0"/>
          </a:p>
          <a:p>
            <a:r>
              <a:rPr lang="en-IN" b="1" dirty="0"/>
              <a:t>Research Gate &amp; IEEE X </a:t>
            </a:r>
            <a:r>
              <a:rPr lang="en-IN" b="1" dirty="0" err="1"/>
              <a:t>plore</a:t>
            </a:r>
            <a:r>
              <a:rPr lang="en-IN" dirty="0"/>
              <a:t>: Scientific papers and conference publications detail</a:t>
            </a:r>
          </a:p>
          <a:p>
            <a:endParaRPr lang="en-IN" dirty="0"/>
          </a:p>
          <a:p>
            <a:r>
              <a:rPr lang="en-IN" dirty="0"/>
              <a:t> </a:t>
            </a:r>
            <a:r>
              <a:rPr lang="en-IN" b="1" dirty="0"/>
              <a:t>Developer Forums</a:t>
            </a:r>
            <a:r>
              <a:rPr lang="en-IN" dirty="0"/>
              <a:t>: </a:t>
            </a:r>
            <a:r>
              <a:rPr lang="en-IN" b="1" dirty="0"/>
              <a:t>Hub</a:t>
            </a:r>
            <a:r>
              <a:rPr lang="en-IN" dirty="0"/>
              <a:t>: Open-source code repositories are commonly shared on GitHub,        providing the software backbone for these projects </a:t>
            </a:r>
          </a:p>
          <a:p>
            <a:endParaRPr lang="en-IN" dirty="0"/>
          </a:p>
        </p:txBody>
      </p:sp>
    </p:spTree>
    <p:extLst>
      <p:ext uri="{BB962C8B-B14F-4D97-AF65-F5344CB8AC3E}">
        <p14:creationId xmlns:p14="http://schemas.microsoft.com/office/powerpoint/2010/main" val="1809035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6720" y="100102"/>
            <a:ext cx="7536180" cy="6709529"/>
          </a:xfrm>
          <a:prstGeom prst="rect">
            <a:avLst/>
          </a:prstGeom>
        </p:spPr>
        <p:txBody>
          <a:bodyPr wrap="square">
            <a:spAutoFit/>
          </a:bodyPr>
          <a:lstStyle/>
          <a:p>
            <a:r>
              <a:rPr lang="en-US" sz="4000" b="1" i="1" dirty="0"/>
              <a:t>The roles and responsibilities of each individual are:-</a:t>
            </a:r>
          </a:p>
          <a:p>
            <a:r>
              <a:rPr lang="en-US" dirty="0"/>
              <a:t>1. HARSHIT  </a:t>
            </a:r>
          </a:p>
          <a:p>
            <a:r>
              <a:rPr lang="en-US" dirty="0"/>
              <a:t>•Leads the project</a:t>
            </a:r>
          </a:p>
          <a:p>
            <a:r>
              <a:rPr lang="en-US" dirty="0"/>
              <a:t>•Provides technical expertise</a:t>
            </a:r>
          </a:p>
          <a:p>
            <a:r>
              <a:rPr lang="en-US" dirty="0"/>
              <a:t>•Compiles research findings, experimental results, and design information</a:t>
            </a:r>
          </a:p>
          <a:p>
            <a:endParaRPr lang="en-US" dirty="0"/>
          </a:p>
          <a:p>
            <a:r>
              <a:rPr lang="en-US" dirty="0"/>
              <a:t>2. JIGYASU ,  HIMANSHU AND HARSH</a:t>
            </a:r>
          </a:p>
          <a:p>
            <a:r>
              <a:rPr lang="en-US" dirty="0"/>
              <a:t>•Tracks project expenses</a:t>
            </a:r>
          </a:p>
          <a:p>
            <a:r>
              <a:rPr lang="en-US" dirty="0"/>
              <a:t>•Ensure standards of experimental setup and error free data collection </a:t>
            </a:r>
          </a:p>
          <a:p>
            <a:r>
              <a:rPr lang="en-US" dirty="0"/>
              <a:t>•Work on Fabrication of experimental setup</a:t>
            </a:r>
          </a:p>
          <a:p>
            <a:endParaRPr lang="en-US" dirty="0"/>
          </a:p>
          <a:p>
            <a:r>
              <a:rPr lang="en-US" dirty="0"/>
              <a:t>3. LAKSHYA , LAKSHYA SAXENA AND JAY</a:t>
            </a:r>
          </a:p>
          <a:p>
            <a:r>
              <a:rPr lang="en-US" dirty="0"/>
              <a:t>•Research and compile  findings, experimental results, and design information </a:t>
            </a:r>
          </a:p>
          <a:p>
            <a:r>
              <a:rPr lang="en-US" dirty="0"/>
              <a:t>•Provides technical expertise and assistance.</a:t>
            </a:r>
          </a:p>
          <a:p>
            <a:r>
              <a:rPr lang="en-US" dirty="0"/>
              <a:t>•Provides critical feedback ,improvement  and clarification on data.</a:t>
            </a:r>
          </a:p>
          <a:p>
            <a:endParaRPr lang="en-US" dirty="0"/>
          </a:p>
          <a:p>
            <a:r>
              <a:rPr lang="en-US" dirty="0"/>
              <a:t>4. JUNAID AND JALALUDDIN, KARAN</a:t>
            </a:r>
          </a:p>
          <a:p>
            <a:r>
              <a:rPr lang="en-US" dirty="0"/>
              <a:t>•Manages the procurement of materials and equipment needed</a:t>
            </a:r>
          </a:p>
          <a:p>
            <a:r>
              <a:rPr lang="en-US" dirty="0"/>
              <a:t>•Conducts in-depth research and market survey on VCRS</a:t>
            </a:r>
          </a:p>
          <a:p>
            <a:r>
              <a:rPr lang="en-US" dirty="0"/>
              <a:t>•Provides technical expertise</a:t>
            </a:r>
          </a:p>
        </p:txBody>
      </p:sp>
    </p:spTree>
    <p:extLst>
      <p:ext uri="{BB962C8B-B14F-4D97-AF65-F5344CB8AC3E}">
        <p14:creationId xmlns:p14="http://schemas.microsoft.com/office/powerpoint/2010/main" val="1693235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CA357D-D5EB-8285-7F12-41BA420339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1309" y="0"/>
            <a:ext cx="7527636" cy="6858000"/>
          </a:xfrm>
          <a:prstGeom prst="rect">
            <a:avLst/>
          </a:prstGeom>
        </p:spPr>
      </p:pic>
    </p:spTree>
    <p:extLst>
      <p:ext uri="{BB962C8B-B14F-4D97-AF65-F5344CB8AC3E}">
        <p14:creationId xmlns:p14="http://schemas.microsoft.com/office/powerpoint/2010/main" val="3007098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TotalTime>
  <Words>739</Words>
  <Application>Microsoft Office PowerPoint</Application>
  <PresentationFormat>Widescreen</PresentationFormat>
  <Paragraphs>105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OBJECTIVE:-</vt:lpstr>
      <vt:lpstr>LITERATURE:-</vt:lpstr>
      <vt:lpstr>WORKING PRINCIPLE:-</vt:lpstr>
      <vt:lpstr>PowerPoint Presentation</vt:lpstr>
      <vt:lpstr>EQUIPMENT:-</vt:lpstr>
      <vt:lpstr>BLOCK DIAGRAM</vt:lpstr>
      <vt:lpstr>   APPLICATION:-</vt:lpstr>
      <vt:lpstr> </vt:lpstr>
      <vt:lpstr>PURPOSE SOLUTION:-</vt:lpstr>
      <vt:lpstr>REFRENCE:-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Jain</dc:creator>
  <cp:lastModifiedBy>junaid farooq</cp:lastModifiedBy>
  <cp:revision>32</cp:revision>
  <dcterms:created xsi:type="dcterms:W3CDTF">2022-10-06T10:56:50Z</dcterms:created>
  <dcterms:modified xsi:type="dcterms:W3CDTF">2025-11-13T05:51:34Z</dcterms:modified>
</cp:coreProperties>
</file>